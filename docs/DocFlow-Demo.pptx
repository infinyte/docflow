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4" d="100"/>
          <a:sy n="154" d="100"/>
        </p:scale>
        <p:origin x="138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5817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79901" y="1409700"/>
            <a:ext cx="458419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spcBef>
                <a:spcPts val="300"/>
              </a:spcBef>
              <a:spcAft>
                <a:spcPts val="1500"/>
              </a:spcAft>
              <a:buNone/>
            </a:pPr>
            <a:r>
              <a:rPr lang="en-US" sz="105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109817" y="1790700"/>
            <a:ext cx="292436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spcAft>
                <a:spcPts val="600"/>
              </a:spcAft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DocFlow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2279901" y="2552700"/>
            <a:ext cx="458419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spcBef>
                <a:spcPts val="300"/>
              </a:spcBef>
              <a:spcAft>
                <a:spcPts val="3000"/>
              </a:spcAft>
              <a:buNone/>
            </a:pPr>
            <a:r>
              <a:rPr lang="en-US" sz="18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Documentation &amp; Modeling Toolkit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279901" y="3238500"/>
            <a:ext cx="45841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Whiteboard → Diagram → Code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279901" y="3505200"/>
            <a:ext cx="45841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Seconds.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42845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spcAft>
                <a:spcPts val="2250"/>
              </a:spcAft>
              <a:buNone/>
            </a:pPr>
            <a:r>
              <a:rPr lang="en-US" sz="27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62000" y="1476375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200150" y="1514475"/>
            <a:ext cx="37372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Whiteboard sessions produce great ideas...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00150" y="1819275"/>
            <a:ext cx="373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...that get lost when someone "cleans up the notes"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62000" y="2276475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200150" y="2314575"/>
            <a:ext cx="35743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API integrations take weeks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00150" y="2619375"/>
            <a:ext cx="35743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mapping, manual DTOs, manual client code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2000" y="3076575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200150" y="3114675"/>
            <a:ext cx="30948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drifts from reality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00150" y="3419475"/>
            <a:ext cx="30948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Diagrams ≠ Code ≠ What's actually deployed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2000" y="3876675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200150" y="3914775"/>
            <a:ext cx="301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 violations go undetected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00150" y="4219575"/>
            <a:ext cx="30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Until a customer complains about stale data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564470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1200"/>
              </a:spcAft>
              <a:buNone/>
            </a:pPr>
            <a:r>
              <a:rPr lang="en-US" sz="225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Solution: Canonical Semantic Model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571500" y="1609725"/>
            <a:ext cx="39639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universal truth layer: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71500" y="1952625"/>
            <a:ext cx="3886200" cy="495300"/>
          </a:xfrm>
          <a:prstGeom prst="roundRect">
            <a:avLst>
              <a:gd name="adj" fmla="val 11538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90550" y="1952625"/>
            <a:ext cx="0" cy="495300"/>
          </a:xfrm>
          <a:prstGeom prst="line">
            <a:avLst/>
          </a:prstGeom>
          <a:noFill/>
          <a:ln w="381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23900" y="2105025"/>
            <a:ext cx="36918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Whiteboard Sketches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71500" y="2543175"/>
            <a:ext cx="3886200" cy="495300"/>
          </a:xfrm>
          <a:prstGeom prst="roundRect">
            <a:avLst>
              <a:gd name="adj" fmla="val 11538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90550" y="2543175"/>
            <a:ext cx="0" cy="495300"/>
          </a:xfrm>
          <a:prstGeom prst="line">
            <a:avLst/>
          </a:prstGeom>
          <a:noFill/>
          <a:ln w="381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23900" y="2695575"/>
            <a:ext cx="36918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Mermaid Diagrams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71500" y="3133725"/>
            <a:ext cx="3886200" cy="495300"/>
          </a:xfrm>
          <a:prstGeom prst="roundRect">
            <a:avLst>
              <a:gd name="adj" fmla="val 11538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90550" y="3133725"/>
            <a:ext cx="0" cy="495300"/>
          </a:xfrm>
          <a:prstGeom prst="line">
            <a:avLst/>
          </a:prstGeom>
          <a:noFill/>
          <a:ln w="381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23900" y="3286125"/>
            <a:ext cx="36918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Domain Models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71500" y="3724275"/>
            <a:ext cx="3886200" cy="495300"/>
          </a:xfrm>
          <a:prstGeom prst="roundRect">
            <a:avLst>
              <a:gd name="adj" fmla="val 11538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90550" y="3724275"/>
            <a:ext cx="0" cy="495300"/>
          </a:xfrm>
          <a:prstGeom prst="line">
            <a:avLst/>
          </a:prstGeom>
          <a:noFill/>
          <a:ln w="381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23900" y="3876675"/>
            <a:ext cx="36918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API Schemas</a:t>
            </a:r>
            <a:endParaRPr lang="en-US" sz="1050" dirty="0"/>
          </a:p>
        </p:txBody>
      </p:sp>
      <p:pic>
        <p:nvPicPr>
          <p:cNvPr id="16" name="Image 0" descr="/tmp/rasterized-gradient-8de60a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1650" y="1847850"/>
            <a:ext cx="2095500" cy="2095500"/>
          </a:xfrm>
          <a:prstGeom prst="rect">
            <a:avLst/>
          </a:prstGeom>
          <a:effectLst>
            <a:outerShdw blurRad="381000" dist="50800" dir="16200000" algn="bl" rotWithShape="0">
              <a:srgbClr val="00D4FF">
                <a:alpha val="30000"/>
              </a:srgbClr>
            </a:outerShdw>
          </a:effectLst>
        </p:spPr>
      </p:pic>
      <p:sp>
        <p:nvSpPr>
          <p:cNvPr id="17" name="Text 14"/>
          <p:cNvSpPr/>
          <p:nvPr/>
        </p:nvSpPr>
        <p:spPr>
          <a:xfrm>
            <a:off x="6197364" y="2495550"/>
            <a:ext cx="8640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197364" y="2800350"/>
            <a:ext cx="8640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197364" y="3143250"/>
            <a:ext cx="86407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Universal Truth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419100"/>
            <a:ext cx="85496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  <a:spcBef>
                <a:spcPts val="300"/>
              </a:spcBef>
              <a:spcAft>
                <a:spcPts val="600"/>
              </a:spcAft>
            </a:pPr>
            <a:r>
              <a:rPr lang="en-US" sz="1050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Whiteboard Module Demo 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529494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spcAft>
                <a:spcPts val="150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Whiteboard → Diagram → Code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71500" y="1365945"/>
            <a:ext cx="1657350" cy="990600"/>
          </a:xfrm>
          <a:prstGeom prst="roundRect">
            <a:avLst>
              <a:gd name="adj" fmla="val 7692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49237" y="1556445"/>
            <a:ext cx="130187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2250" dirty="0">
                <a:solidFill>
                  <a:srgbClr val="EA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📸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749237" y="1975545"/>
            <a:ext cx="130187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343150" y="1701254"/>
            <a:ext cx="2331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686050" y="1365945"/>
            <a:ext cx="1657350" cy="990600"/>
          </a:xfrm>
          <a:prstGeom prst="roundRect">
            <a:avLst>
              <a:gd name="adj" fmla="val 7692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863787" y="1556445"/>
            <a:ext cx="130187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2250" dirty="0">
                <a:solidFill>
                  <a:srgbClr val="EA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2863787" y="1975545"/>
            <a:ext cx="130187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Computer Vision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457700" y="1701254"/>
            <a:ext cx="2331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00600" y="1365945"/>
            <a:ext cx="1657350" cy="990600"/>
          </a:xfrm>
          <a:prstGeom prst="roundRect">
            <a:avLst>
              <a:gd name="adj" fmla="val 7692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978337" y="1556445"/>
            <a:ext cx="130187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2250" dirty="0">
                <a:solidFill>
                  <a:srgbClr val="EA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4978337" y="1975545"/>
            <a:ext cx="130187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Mermaid UML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572250" y="1701254"/>
            <a:ext cx="2331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915150" y="1365945"/>
            <a:ext cx="1657350" cy="990600"/>
          </a:xfrm>
          <a:prstGeom prst="roundRect">
            <a:avLst>
              <a:gd name="adj" fmla="val 7692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092887" y="1556445"/>
            <a:ext cx="130187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2250" dirty="0">
                <a:solidFill>
                  <a:srgbClr val="EA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7092887" y="1975545"/>
            <a:ext cx="130187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Code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71500" y="2585145"/>
            <a:ext cx="8001000" cy="1230511"/>
          </a:xfrm>
          <a:prstGeom prst="roundRect">
            <a:avLst>
              <a:gd name="adj" fmla="val 6193"/>
            </a:avLst>
          </a:prstGeom>
          <a:solidFill>
            <a:srgbClr val="0D1117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71525" y="2823270"/>
            <a:ext cx="775296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1050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 Terminal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71525" y="3065867"/>
            <a:ext cx="775296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70"/>
              </a:lnSpc>
              <a:spcBef>
                <a:spcPts val="300"/>
              </a:spcBef>
              <a:spcAft>
                <a:spcPts val="600"/>
              </a:spcAft>
            </a:pPr>
            <a:r>
              <a:rPr lang="en-US" sz="1050" dirty="0" err="1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docflow</a:t>
            </a:r>
            <a:r>
              <a:rPr lang="en-US" sz="10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92D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</a:t>
            </a: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whiteboard.png -c “Context of Sketch" -o </a:t>
            </a:r>
            <a:r>
              <a:rPr lang="en-US" sz="1050" dirty="0" err="1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FormalOutputDiagram.mmd</a:t>
            </a:r>
            <a:endParaRPr lang="en-US" sz="1050" dirty="0">
              <a:solidFill>
                <a:schemeClr val="bg2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771525" y="3373006"/>
            <a:ext cx="775296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 err="1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docflow</a:t>
            </a:r>
            <a:r>
              <a:rPr lang="en-US" sz="10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 err="1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codegen</a:t>
            </a:r>
            <a:r>
              <a:rPr lang="en-US" sz="10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 err="1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diagram.mmd</a:t>
            </a:r>
            <a:r>
              <a:rPr lang="en-US" sz="10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-o</a:t>
            </a:r>
            <a:r>
              <a:rPr lang="en-US" sz="10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 err="1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Domain.cs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71500" y="4044255"/>
            <a:ext cx="2540050" cy="762000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23900" y="4234755"/>
            <a:ext cx="22799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DDD Pattern Recognition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23900" y="4463355"/>
            <a:ext cx="22799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AggregateRoot, Entity, ValueObject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02050" y="4044255"/>
            <a:ext cx="2540050" cy="762000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454450" y="4234755"/>
            <a:ext cx="22799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Stereotype Extraction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454450" y="4463355"/>
            <a:ext cx="22799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«aggregate root» → classification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032599" y="4044255"/>
            <a:ext cx="2540050" cy="762000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184999" y="4234755"/>
            <a:ext cx="22799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Relationship Mapping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184999" y="4463355"/>
            <a:ext cx="22799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Composition, inheritance, association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Source: Aviation CDM Whiteboard Sketch</a:t>
            </a:r>
            <a:endParaRPr lang="en-US" sz="2800" dirty="0"/>
          </a:p>
        </p:txBody>
      </p:sp>
      <p:pic>
        <p:nvPicPr>
          <p:cNvPr id="4" name="Image 0" descr="/home/claude/whiteboard-handdra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8229600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docflow scan whiteboard-aviation-cdm.png -c “Aviation CDM Class Diagram" -v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42845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spcAft>
                <a:spcPts val="225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Module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1476375"/>
            <a:ext cx="3886200" cy="1219200"/>
          </a:xfrm>
          <a:prstGeom prst="roundRect">
            <a:avLst>
              <a:gd name="adj" fmla="val 6250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90550" y="1476375"/>
            <a:ext cx="0" cy="1219200"/>
          </a:xfrm>
          <a:prstGeom prst="line">
            <a:avLst/>
          </a:prstGeom>
          <a:noFill/>
          <a:ln w="381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00100" y="1704975"/>
            <a:ext cx="35364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parse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00100" y="2047875"/>
            <a:ext cx="353644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 OpenAPI specs (JSON/YAML)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00100" y="2276475"/>
            <a:ext cx="353644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entities &amp; endpoints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71500" y="2847975"/>
            <a:ext cx="3886200" cy="1219200"/>
          </a:xfrm>
          <a:prstGeom prst="roundRect">
            <a:avLst>
              <a:gd name="adj" fmla="val 6250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90550" y="2847975"/>
            <a:ext cx="0" cy="1219200"/>
          </a:xfrm>
          <a:prstGeom prst="line">
            <a:avLst/>
          </a:prstGeom>
          <a:noFill/>
          <a:ln w="381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00100" y="3076575"/>
            <a:ext cx="35364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analyze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00100" y="3419475"/>
            <a:ext cx="353644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external API → your CDM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00100" y="3648075"/>
            <a:ext cx="353644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scores &amp; reasoning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686300" y="1476375"/>
            <a:ext cx="3886200" cy="1219200"/>
          </a:xfrm>
          <a:prstGeom prst="roundRect">
            <a:avLst>
              <a:gd name="adj" fmla="val 6250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705350" y="1476375"/>
            <a:ext cx="0" cy="1219200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14900" y="1704975"/>
            <a:ext cx="35364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sla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914900" y="2047875"/>
            <a:ext cx="353644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data freshness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14900" y="2276475"/>
            <a:ext cx="353644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 stale data automatically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686300" y="2847975"/>
            <a:ext cx="3886200" cy="1219200"/>
          </a:xfrm>
          <a:prstGeom prst="roundRect">
            <a:avLst>
              <a:gd name="adj" fmla="val 6250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705350" y="2847975"/>
            <a:ext cx="0" cy="1219200"/>
          </a:xfrm>
          <a:prstGeom prst="line">
            <a:avLst/>
          </a:prstGeom>
          <a:noFill/>
          <a:ln w="38100">
            <a:solidFill>
              <a:srgbClr val="7EE7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14900" y="3076575"/>
            <a:ext cx="35364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generate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914900" y="3419475"/>
            <a:ext cx="353644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DTOs, AutoMapper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914900" y="3648075"/>
            <a:ext cx="353644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clients, validators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-93229" y="1016939"/>
            <a:ext cx="81610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CDM pattern used for diagram transformation → now applied to API integration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419100"/>
            <a:ext cx="85496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050" dirty="0">
                <a:solidFill>
                  <a:srgbClr val="E94560"/>
                </a:solidFill>
                <a:latin typeface="Arial" pitchFamily="34" charset="0"/>
                <a:cs typeface="Arial" pitchFamily="34" charset="-120"/>
              </a:rPr>
              <a:t>API Integration Module Demo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4886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spcAft>
                <a:spcPts val="150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Analysis &amp; CDM Mapping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71500" y="1388864"/>
            <a:ext cx="8001000" cy="801886"/>
          </a:xfrm>
          <a:prstGeom prst="roundRect">
            <a:avLst>
              <a:gd name="adj" fmla="val 9503"/>
            </a:avLst>
          </a:prstGeom>
          <a:solidFill>
            <a:srgbClr val="0D1117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33425" y="1588889"/>
            <a:ext cx="783069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00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Parse the API spec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3425" y="1817489"/>
            <a:ext cx="783069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docflow integrate parse</a:t>
            </a:r>
            <a:r>
              <a:rPr lang="en-US" sz="975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75" dirty="0" err="1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flightbridge-api-spec.json</a:t>
            </a:r>
            <a:r>
              <a:rPr lang="en-US" sz="975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75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-v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571500" y="2381250"/>
            <a:ext cx="8001000" cy="801886"/>
          </a:xfrm>
          <a:prstGeom prst="roundRect">
            <a:avLst>
              <a:gd name="adj" fmla="val 9503"/>
            </a:avLst>
          </a:prstGeom>
          <a:solidFill>
            <a:srgbClr val="0D1117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3425" y="2581275"/>
            <a:ext cx="783069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00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Analyze mapping to CDM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3425" y="2809875"/>
            <a:ext cx="783069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docflow integrate analyze</a:t>
            </a:r>
            <a:r>
              <a:rPr lang="en-US" sz="975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75" dirty="0" err="1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flightbridge-api-spec.json</a:t>
            </a:r>
            <a:r>
              <a:rPr lang="en-US" sz="975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75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--cdm</a:t>
            </a:r>
            <a:r>
              <a:rPr lang="en-US" sz="975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AviationCdm/ </a:t>
            </a:r>
            <a:r>
              <a:rPr lang="en-US" sz="975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-v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571500" y="3373636"/>
            <a:ext cx="3924300" cy="1409700"/>
          </a:xfrm>
          <a:prstGeom prst="roundRect">
            <a:avLst>
              <a:gd name="adj" fmla="val 5405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23900" y="3564136"/>
            <a:ext cx="36918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Aviation Pattern Matches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23900" y="3868936"/>
            <a:ext cx="36918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Regn → TailNumber (85%)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23900" y="4059436"/>
            <a:ext cx="36918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Origin → OriginAirportCode (85%)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23900" y="4249936"/>
            <a:ext cx="36918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paxCount → PassengerCount (85%)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23900" y="4440436"/>
            <a:ext cx="36918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Flight → FlightLeg (74%)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48200" y="3373636"/>
            <a:ext cx="3924300" cy="1409700"/>
          </a:xfrm>
          <a:prstGeom prst="roundRect">
            <a:avLst>
              <a:gd name="adj" fmla="val 5405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00600" y="3564136"/>
            <a:ext cx="36918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CDM Gaps Identified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00600" y="3868936"/>
            <a:ext cx="36918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Icao - not in CDM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00600" y="4059436"/>
            <a:ext cx="36918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Blocksoff - not in CDM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00600" y="4249936"/>
            <a:ext cx="36918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Blockson - not in CDM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00600" y="4440436"/>
            <a:ext cx="36918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Legitimate gaps to address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419100"/>
            <a:ext cx="85496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050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Level Agreement Compliance Module Demo – Lesson Learned Integration Non-Compliant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5139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spcAft>
                <a:spcPts val="150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 Data Freshness Validation</a:t>
            </a:r>
            <a:endParaRPr lang="en-US" sz="2700" dirty="0"/>
          </a:p>
        </p:txBody>
      </p:sp>
      <p:pic>
        <p:nvPicPr>
          <p:cNvPr id="4" name="Image 0" descr="/tmp/rasterized-gradient-37db66e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75457"/>
            <a:ext cx="8001000" cy="11811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0100" y="1504057"/>
            <a:ext cx="77335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We Found: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00100" y="1808857"/>
            <a:ext cx="77335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SLA promised 30-second data freshness. Actual data was </a:t>
            </a:r>
            <a:r>
              <a:rPr lang="en-US" sz="105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2-5 hours stale</a:t>
            </a:r>
            <a:r>
              <a:rPr lang="en-US" sz="10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00100" y="2037457"/>
            <a:ext cx="77335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Discovered manually. This tool would have caught it automatically.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2647057"/>
            <a:ext cx="8001000" cy="801886"/>
          </a:xfrm>
          <a:prstGeom prst="roundRect">
            <a:avLst>
              <a:gd name="adj" fmla="val 9503"/>
            </a:avLst>
          </a:prstGeom>
          <a:solidFill>
            <a:srgbClr val="0D1117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733425" y="2847082"/>
            <a:ext cx="783069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00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SLA Compliance Check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33425" y="3075682"/>
            <a:ext cx="783069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docflow integrate sla</a:t>
            </a:r>
            <a:r>
              <a:rPr lang="en-US" sz="975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"https://api.vendor.com/flights" </a:t>
            </a:r>
            <a:r>
              <a:rPr lang="en-US" sz="975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--expected</a:t>
            </a:r>
            <a:r>
              <a:rPr lang="en-US" sz="975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30s </a:t>
            </a:r>
            <a:r>
              <a:rPr lang="en-US" sz="975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-v</a:t>
            </a:r>
            <a:endParaRPr lang="en-US" sz="975" dirty="0"/>
          </a:p>
        </p:txBody>
      </p:sp>
      <p:sp>
        <p:nvSpPr>
          <p:cNvPr id="11" name="Text 8"/>
          <p:cNvSpPr/>
          <p:nvPr/>
        </p:nvSpPr>
        <p:spPr>
          <a:xfrm>
            <a:off x="571500" y="3639443"/>
            <a:ext cx="2565350" cy="800100"/>
          </a:xfrm>
          <a:prstGeom prst="roundRect">
            <a:avLst>
              <a:gd name="adj" fmla="val 9524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723900" y="3829943"/>
            <a:ext cx="230576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05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Samples endpoint multiple times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23900" y="4096643"/>
            <a:ext cx="23057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Extracts timestamp from response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289250" y="3639443"/>
            <a:ext cx="2565350" cy="800100"/>
          </a:xfrm>
          <a:prstGeom prst="roundRect">
            <a:avLst>
              <a:gd name="adj" fmla="val 9524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3441650" y="3829943"/>
            <a:ext cx="230576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05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Calculates actual data age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3441650" y="4096643"/>
            <a:ext cx="23057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Min, max, average freshness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007001" y="3639443"/>
            <a:ext cx="2565350" cy="800100"/>
          </a:xfrm>
          <a:prstGeom prst="roundRect">
            <a:avLst>
              <a:gd name="adj" fmla="val 9524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6159401" y="3829943"/>
            <a:ext cx="230576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05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🚨 Returns clear verdict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159401" y="4096643"/>
            <a:ext cx="23057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COMPLIANT or VIOLATION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91490" y="4668143"/>
            <a:ext cx="81610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CI/CD ready - Run as scheduled job to catch SLA drift early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23850"/>
            <a:ext cx="85496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Integration Code Generation Module Demo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81000" y="55245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1200"/>
              </a:spcAft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Code Generation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71500" y="1643955"/>
            <a:ext cx="8001000" cy="483840"/>
          </a:xfrm>
          <a:prstGeom prst="roundRect">
            <a:avLst>
              <a:gd name="adj" fmla="val 11812"/>
            </a:avLst>
          </a:prstGeom>
          <a:solidFill>
            <a:srgbClr val="0D1117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95325" y="1805880"/>
            <a:ext cx="790841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docflow integrate generate</a:t>
            </a:r>
            <a:r>
              <a:rPr lang="en-US" sz="9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flightbridge-api.json </a:t>
            </a:r>
            <a:r>
              <a:rPr lang="en-US" sz="9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--cdm</a:t>
            </a:r>
            <a:r>
              <a:rPr lang="en-US" sz="9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AviationCdm/ </a:t>
            </a:r>
            <a:r>
              <a:rPr lang="en-US" sz="9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--output</a:t>
            </a:r>
            <a:r>
              <a:rPr lang="en-US" sz="9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./generated/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71500" y="2242096"/>
            <a:ext cx="3943350" cy="704850"/>
          </a:xfrm>
          <a:prstGeom prst="roundRect">
            <a:avLst>
              <a:gd name="adj" fmla="val 8108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85800" y="2394496"/>
            <a:ext cx="378904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External DTOs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85800" y="2642146"/>
            <a:ext cx="37890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[JsonPropertyName("...")]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629150" y="2242096"/>
            <a:ext cx="3943350" cy="704850"/>
          </a:xfrm>
          <a:prstGeom prst="roundRect">
            <a:avLst>
              <a:gd name="adj" fmla="val 8108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743450" y="2394496"/>
            <a:ext cx="378904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AutoMapper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43450" y="2642146"/>
            <a:ext cx="37890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85% confidence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71500" y="3061246"/>
            <a:ext cx="3943350" cy="704850"/>
          </a:xfrm>
          <a:prstGeom prst="roundRect">
            <a:avLst>
              <a:gd name="adj" fmla="val 8108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85800" y="3213646"/>
            <a:ext cx="378904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Typed HTTP Clients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85800" y="3461296"/>
            <a:ext cx="37890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IFlightBridgeClient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29150" y="3061246"/>
            <a:ext cx="3943350" cy="704850"/>
          </a:xfrm>
          <a:prstGeom prst="roundRect">
            <a:avLst>
              <a:gd name="adj" fmla="val 8108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743450" y="3213646"/>
            <a:ext cx="378904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FF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FluentValidation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43450" y="3461296"/>
            <a:ext cx="37890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RuleFor(x =&gt; x.Name)...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71500" y="3880396"/>
            <a:ext cx="8001000" cy="533400"/>
          </a:xfrm>
          <a:prstGeom prst="roundRect">
            <a:avLst>
              <a:gd name="adj" fmla="val 10714"/>
            </a:avLst>
          </a:prstGeom>
          <a:solidFill>
            <a:srgbClr val="0F34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08076" y="4032796"/>
            <a:ext cx="7927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 files</a:t>
            </a: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• </a:t>
            </a: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1,269 lines</a:t>
            </a: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• </a:t>
            </a:r>
            <a:r>
              <a:rPr lang="en-US" sz="1200" b="1" dirty="0">
                <a:solidFill>
                  <a:srgbClr val="FF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Weeks/Months → Seconds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1500"/>
              </a:spcAft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571500" y="1009650"/>
            <a:ext cx="396392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Projects • 91 Tests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1500" y="1295400"/>
            <a:ext cx="3886200" cy="2705100"/>
          </a:xfrm>
          <a:prstGeom prst="roundRect">
            <a:avLst>
              <a:gd name="adj" fmla="val 2113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85800" y="1447800"/>
            <a:ext cx="37307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225"/>
              </a:spcAft>
              <a:buNone/>
            </a:pPr>
            <a:r>
              <a:rPr lang="en-US" sz="1500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DocFlow.Core</a:t>
            </a:r>
            <a:r>
              <a:rPr lang="en-US" sz="15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Semantic Model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1752600"/>
            <a:ext cx="37307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225"/>
              </a:spcAft>
              <a:buNone/>
            </a:pPr>
            <a:r>
              <a:rPr lang="en-US" sz="1500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DocFlow.CodeAnalysis</a:t>
            </a:r>
            <a:r>
              <a:rPr lang="en-US" sz="15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Roslyn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057400"/>
            <a:ext cx="37307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225"/>
              </a:spcAft>
              <a:buNone/>
            </a:pPr>
            <a:r>
              <a:rPr lang="en-US" sz="1500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DocFlow.Diagrams</a:t>
            </a:r>
            <a:r>
              <a:rPr lang="en-US" sz="15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Mermaid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2362200"/>
            <a:ext cx="37307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225"/>
              </a:spcAft>
              <a:buNone/>
            </a:pPr>
            <a:r>
              <a:rPr lang="en-US" sz="1500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DocFlow.CodeGen</a:t>
            </a:r>
            <a:r>
              <a:rPr lang="en-US" sz="15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C# Gen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2667000"/>
            <a:ext cx="37307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225"/>
              </a:spcAft>
              <a:buNone/>
            </a:pPr>
            <a:r>
              <a:rPr lang="en-US" sz="1500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DocFlow.Vision</a:t>
            </a:r>
            <a:r>
              <a:rPr lang="en-US" sz="15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AI Scanner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2971800"/>
            <a:ext cx="37307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225"/>
              </a:spcAft>
              <a:buNone/>
            </a:pPr>
            <a:r>
              <a:rPr lang="en-US" sz="1500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DocFlow.AI</a:t>
            </a:r>
            <a:r>
              <a:rPr lang="en-US" sz="15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Claude API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3276600"/>
            <a:ext cx="37307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225"/>
              </a:spcAft>
              <a:buNone/>
            </a:pPr>
            <a:r>
              <a:rPr lang="en-US" sz="15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DocFlow.Integration</a:t>
            </a:r>
            <a:r>
              <a:rPr lang="en-US" sz="15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APIs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800" y="3581400"/>
            <a:ext cx="37307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DocFlow.CLI + Tests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86300" y="1009650"/>
            <a:ext cx="396392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686300" y="1295400"/>
            <a:ext cx="3886200" cy="457200"/>
          </a:xfrm>
          <a:prstGeom prst="roundRect">
            <a:avLst>
              <a:gd name="adj" fmla="val 8333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781550" y="1428750"/>
            <a:ext cx="376961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.NET 8.0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C# 12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686300" y="1828800"/>
            <a:ext cx="3886200" cy="457200"/>
          </a:xfrm>
          <a:prstGeom prst="roundRect">
            <a:avLst>
              <a:gd name="adj" fmla="val 8333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781550" y="1962150"/>
            <a:ext cx="376961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Roslyn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Code Analysis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686300" y="2362200"/>
            <a:ext cx="3886200" cy="457200"/>
          </a:xfrm>
          <a:prstGeom prst="roundRect">
            <a:avLst>
              <a:gd name="adj" fmla="val 8333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781550" y="2495550"/>
            <a:ext cx="376961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Vision API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686300" y="2895600"/>
            <a:ext cx="3886200" cy="457200"/>
          </a:xfrm>
          <a:prstGeom prst="roundRect">
            <a:avLst>
              <a:gd name="adj" fmla="val 8333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781550" y="3028950"/>
            <a:ext cx="376961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Microsoft.OpenApi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686300" y="3429000"/>
            <a:ext cx="3886200" cy="457200"/>
          </a:xfrm>
          <a:prstGeom prst="roundRect">
            <a:avLst>
              <a:gd name="adj" fmla="val 8333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781550" y="3562350"/>
            <a:ext cx="376961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Spectre.Console</a:t>
            </a:r>
            <a:endParaRPr lang="en-US" sz="1050" dirty="0"/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F73CD6E3-D09C-9F16-20FB-0F2381D9D749}"/>
              </a:ext>
            </a:extLst>
          </p:cNvPr>
          <p:cNvSpPr/>
          <p:nvPr/>
        </p:nvSpPr>
        <p:spPr>
          <a:xfrm>
            <a:off x="4683189" y="3948396"/>
            <a:ext cx="3886200" cy="457200"/>
          </a:xfrm>
          <a:prstGeom prst="roundRect">
            <a:avLst>
              <a:gd name="adj" fmla="val 8333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F4F9572B-C9D0-013A-C95E-31B1770D468C}"/>
              </a:ext>
            </a:extLst>
          </p:cNvPr>
          <p:cNvSpPr/>
          <p:nvPr/>
        </p:nvSpPr>
        <p:spPr>
          <a:xfrm>
            <a:off x="4778439" y="4081746"/>
            <a:ext cx="376961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 err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Xunit</a:t>
            </a:r>
            <a:r>
              <a:rPr lang="en-US" sz="105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 / Fluent Assertion – Unit Tests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42845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spcAft>
                <a:spcPts val="180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Commands Reference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1485900"/>
            <a:ext cx="39639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Diagram Pipeline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71500" y="1828800"/>
            <a:ext cx="3886200" cy="800100"/>
          </a:xfrm>
          <a:prstGeom prst="roundRect">
            <a:avLst>
              <a:gd name="adj" fmla="val 9524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04850" y="2000250"/>
            <a:ext cx="36918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docflow diagram</a:t>
            </a:r>
            <a:r>
              <a:rPr lang="en-US" sz="15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&lt;file.cs&gt;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04850" y="2324100"/>
            <a:ext cx="36918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→ Mermaid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71500" y="2743200"/>
            <a:ext cx="3886200" cy="800100"/>
          </a:xfrm>
          <a:prstGeom prst="roundRect">
            <a:avLst>
              <a:gd name="adj" fmla="val 9524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04850" y="2914650"/>
            <a:ext cx="36918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docflow codegen</a:t>
            </a:r>
            <a:r>
              <a:rPr lang="en-US" sz="15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&lt;file.mmd&gt;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04850" y="3238500"/>
            <a:ext cx="36918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Mermaid → C#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1500" y="3657600"/>
            <a:ext cx="3886200" cy="800100"/>
          </a:xfrm>
          <a:prstGeom prst="roundRect">
            <a:avLst>
              <a:gd name="adj" fmla="val 9524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04850" y="3829050"/>
            <a:ext cx="36918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docflow scan</a:t>
            </a:r>
            <a:r>
              <a:rPr lang="en-US" sz="15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&lt;image&gt;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04850" y="4152900"/>
            <a:ext cx="36918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 → Mermaid (AI)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686300" y="1028700"/>
            <a:ext cx="39639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🔌 Integration Pipeline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86300" y="1371600"/>
            <a:ext cx="3886200" cy="800100"/>
          </a:xfrm>
          <a:prstGeom prst="roundRect">
            <a:avLst>
              <a:gd name="adj" fmla="val 9524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19650" y="1543050"/>
            <a:ext cx="36918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docflow integrate parse</a:t>
            </a:r>
            <a:r>
              <a:rPr lang="en-US" sz="15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&lt;spec&gt;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19650" y="1866900"/>
            <a:ext cx="36918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 OpenAPI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686300" y="2286000"/>
            <a:ext cx="3886200" cy="800100"/>
          </a:xfrm>
          <a:prstGeom prst="roundRect">
            <a:avLst>
              <a:gd name="adj" fmla="val 9524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19650" y="2457450"/>
            <a:ext cx="36918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docflow integrate analyze</a:t>
            </a:r>
            <a:r>
              <a:rPr lang="en-US" sz="15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--cdm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819650" y="2781300"/>
            <a:ext cx="36918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to CDM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686300" y="3200400"/>
            <a:ext cx="3886200" cy="800100"/>
          </a:xfrm>
          <a:prstGeom prst="roundRect">
            <a:avLst>
              <a:gd name="adj" fmla="val 9524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19650" y="3371850"/>
            <a:ext cx="36918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docflow integrate generate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819650" y="3695700"/>
            <a:ext cx="36918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code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686300" y="4114800"/>
            <a:ext cx="3886200" cy="800100"/>
          </a:xfrm>
          <a:prstGeom prst="roundRect">
            <a:avLst>
              <a:gd name="adj" fmla="val 9524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819650" y="4286250"/>
            <a:ext cx="36918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docflow integrate sla</a:t>
            </a:r>
            <a:r>
              <a:rPr lang="en-US" sz="15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--expected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819650" y="4610100"/>
            <a:ext cx="36918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freshness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63936" y="933450"/>
            <a:ext cx="321583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500"/>
              </a:lnSpc>
              <a:spcAft>
                <a:spcPts val="1800"/>
              </a:spcAft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2956991" y="2057400"/>
            <a:ext cx="34336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1500" dirty="0" err="1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DocFlow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881935" y="2419350"/>
            <a:ext cx="69556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2700" dirty="0">
                <a:solidFill>
                  <a:srgbClr val="EA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📸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2881935" y="2876550"/>
            <a:ext cx="69556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53386" y="2419350"/>
            <a:ext cx="310896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4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441945" y="2419350"/>
            <a:ext cx="51401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2700" dirty="0">
                <a:solidFill>
                  <a:srgbClr val="EA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4248539" y="2876550"/>
            <a:ext cx="92061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233618" y="2419350"/>
            <a:ext cx="310896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4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822938" y="2419350"/>
            <a:ext cx="43643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2700" dirty="0">
                <a:solidFill>
                  <a:srgbClr val="EA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5722776" y="2876550"/>
            <a:ext cx="74022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Reality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470672" y="3486150"/>
            <a:ext cx="2202507" cy="723900"/>
          </a:xfrm>
          <a:prstGeom prst="roundRect">
            <a:avLst>
              <a:gd name="adj" fmla="val 15789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837267" y="3714750"/>
            <a:ext cx="146931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docflow --help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707</Words>
  <Application>Microsoft Office PowerPoint</Application>
  <PresentationFormat>On-screen Show (16:9)</PresentationFormat>
  <Paragraphs>161</Paragraphs>
  <Slides>12</Slides>
  <Notes>12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DocFlow Demo</dc:title>
  <dc:subject>Intelligent Documentation &amp; Modeling Toolkit</dc:subject>
  <dc:creator>Kurt Mitchell</dc:creator>
  <cp:lastModifiedBy>Mitchell, Kurt (SFS-C01 CORP)</cp:lastModifiedBy>
  <cp:revision>2</cp:revision>
  <dcterms:created xsi:type="dcterms:W3CDTF">2026-01-05T22:19:43Z</dcterms:created>
  <dcterms:modified xsi:type="dcterms:W3CDTF">2026-01-06T00:41:54Z</dcterms:modified>
</cp:coreProperties>
</file>